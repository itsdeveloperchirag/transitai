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7" r:id="rId7"/>
    <p:sldId id="274" r:id="rId8"/>
    <p:sldId id="278" r:id="rId9"/>
    <p:sldId id="276" r:id="rId10"/>
    <p:sldId id="280" r:id="rId11"/>
    <p:sldId id="281" r:id="rId12"/>
    <p:sldId id="282" r:id="rId13"/>
    <p:sldId id="267" r:id="rId14"/>
    <p:sldId id="266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570"/>
    <a:srgbClr val="FCFEFE"/>
    <a:srgbClr val="085599"/>
    <a:srgbClr val="087E8B"/>
    <a:srgbClr val="0C3A72"/>
    <a:srgbClr val="E7F7F4"/>
    <a:srgbClr val="4CAFC1"/>
    <a:srgbClr val="3EC6DD"/>
    <a:srgbClr val="34A751"/>
    <a:srgbClr val="FA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E5EE-DA8E-ABE0-30F4-861B5C0FD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15789-7335-D1FB-D724-BA257C23A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59BB-4ABA-604A-6941-81E953CB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CD1D0-6292-8689-F4A5-6CBA7C0F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C9028-DAD0-1F2D-B014-F8DFF1DE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1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FCBE-28A4-0725-FDBA-B8052D65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2251-4AB5-A1C7-158D-D55A5A5A6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77E6-0D7B-C6DA-9160-DE8BB3AF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EB8FA-0160-F24E-F21D-EFCAC767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1F1DF-58FF-B555-43B6-4A5B1FFF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39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6AFE-37FD-F3C7-75ED-321B9E15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7B979-B413-22FB-A657-6FE1CB995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1F019-352A-B1C6-8B8D-4990C5A2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F257-F262-5A15-DA48-3BD37DF7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547FA-766A-C2A8-CFAB-99A289D5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505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7FBB-E3F4-51E7-B440-68CB772B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28B2-752A-28B7-AA06-62C606482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11C13-2C48-A2B6-20AF-E05FC13ED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A031C-BCD6-ED55-313B-978B0260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71D59-23C4-10C2-387C-08480828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6E2B0-ECAA-40CE-05C6-A10F4460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55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375E-AE98-DA9D-4400-1D2B7BBC6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0E3CB-CD88-1E59-D662-6DB9B81C7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8AAF7-190C-F550-B0B7-71CA6AD3C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B11B4-4302-D21F-38EF-945671B64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1856D9-64CD-BC75-741A-65E68A216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737EA-4A40-577F-7EAB-FAC39B87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56EC0-2F04-FB49-DC42-E476393A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30B77-FCA1-7257-0EFB-03D3B16A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15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76F4-5197-EE46-5B37-EA8BDD27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5DBE9-9A61-CB97-EB80-6559E8FE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987FA-E084-6B20-DC24-22CDFE56B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EDEF2-DD4C-A5AF-AA1F-889AD35C8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18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63146-6963-5340-2025-ED3833A8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2FF60-D9DB-8B39-1B59-1B409DC0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172A3-9CD5-02B5-FBE5-D19CB73E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3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8EC8-7B9F-ADF5-C8F3-B4C61A10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C6E17-387B-D60D-BA26-7D905F44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2FCC7-5328-E5B4-8335-3CE7D0A15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C8A02-A5B3-BADA-8643-F219777E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52C2E-2D2D-2936-72F7-C7F851FB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12150-430A-653C-9ABA-BC2AF96A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68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0CA6-794A-F401-7B93-CA929C71F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7AD8C-EECD-7983-21F3-D53ED8216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708B7-37B9-2CBE-5FFC-B9A862A4B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C063F-654D-0BE8-0DEA-EA299286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263E5-A5E0-D7A4-5CC5-590BF672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F4B01-4987-2274-7781-1F745EAF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7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AD26-2DAC-0683-5002-DB15A3A6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8616B-22AA-08B2-CD97-47233E6F9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1FE2-09C2-7E43-0EE6-963C0749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EB06C-C5C8-ACD3-8E3C-771EA8E4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789F-9A28-496D-FB7A-CF3F187C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23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8BA9B-AE26-83FE-13C9-AA35FA571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3800F-98C2-A33E-7130-2BDB79F30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3CFB-DDE8-6034-1EDC-CEC66B2A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18657-B831-7610-7E84-A16C321F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1532C-9018-048F-78E2-B4212E0A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49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47A1CC-BD5F-F09C-64B0-15133118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3D030-B52D-70D1-A0EC-4289BD2A1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9DA7B-88A7-C962-E7F0-06373AAF4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AA7CE-1E0A-452E-8130-BD10145C89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7CCB5-EB06-FDFE-5C47-7473D5930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FD4E4-B77B-6F54-F40A-1A2886C2E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7B82D-7C7B-4C56-9E2D-2FDD05199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58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github.com/ItsDeveloperChirag/TransitAI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EB718-7A48-6B2B-09AD-938325A7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1CD65E-C8FA-5560-BF43-34028A73579D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0855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B38EE-B53D-CE12-B568-7C9E495F9ECC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2C8B6-4074-48F4-A297-1EAD62393AA5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0855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026E40-FA41-8F5C-F919-9F224893DBC0}"/>
              </a:ext>
            </a:extLst>
          </p:cNvPr>
          <p:cNvSpPr/>
          <p:nvPr/>
        </p:nvSpPr>
        <p:spPr>
          <a:xfrm>
            <a:off x="2791326" y="3522846"/>
            <a:ext cx="2646948" cy="471638"/>
          </a:xfrm>
          <a:prstGeom prst="roundRect">
            <a:avLst/>
          </a:prstGeom>
          <a:solidFill>
            <a:srgbClr val="FC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C4F635-B14E-3CB8-9972-DD1265F825F8}"/>
              </a:ext>
            </a:extLst>
          </p:cNvPr>
          <p:cNvSpPr/>
          <p:nvPr/>
        </p:nvSpPr>
        <p:spPr>
          <a:xfrm>
            <a:off x="673768" y="4203030"/>
            <a:ext cx="6651056" cy="1783883"/>
          </a:xfrm>
          <a:prstGeom prst="roundRect">
            <a:avLst/>
          </a:prstGeom>
          <a:solidFill>
            <a:srgbClr val="FC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63570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43E5AA-CC46-3871-1A1A-3561A6B66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602254"/>
              </p:ext>
            </p:extLst>
          </p:nvPr>
        </p:nvGraphicFramePr>
        <p:xfrm>
          <a:off x="673768" y="4203030"/>
          <a:ext cx="6651057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7019">
                  <a:extLst>
                    <a:ext uri="{9D8B030D-6E8A-4147-A177-3AD203B41FA5}">
                      <a16:colId xmlns:a16="http://schemas.microsoft.com/office/drawing/2014/main" val="39071808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2690950"/>
                    </a:ext>
                  </a:extLst>
                </a:gridCol>
                <a:gridCol w="4129238">
                  <a:extLst>
                    <a:ext uri="{9D8B030D-6E8A-4147-A177-3AD203B41FA5}">
                      <a16:colId xmlns:a16="http://schemas.microsoft.com/office/drawing/2014/main" val="470092889"/>
                    </a:ext>
                  </a:extLst>
                </a:gridCol>
              </a:tblGrid>
              <a:tr h="306159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Chirag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7707"/>
                  </a:ext>
                </a:extLst>
              </a:tr>
              <a:tr h="30615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Internship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IBMUEML004546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9033"/>
                  </a:ext>
                </a:extLst>
              </a:tr>
              <a:tr h="30615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Contact Number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9717498724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751096"/>
                  </a:ext>
                </a:extLst>
              </a:tr>
              <a:tr h="306159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College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Guru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Tegh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Bahadur 4th Centenary Engineering College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690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62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4F8F9183-4A5F-F47C-F090-E6A841506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921" y="572332"/>
            <a:ext cx="4332079" cy="32395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62247-F400-4B45-7CF3-25C62D61CD80}"/>
              </a:ext>
            </a:extLst>
          </p:cNvPr>
          <p:cNvSpPr txBox="1">
            <a:spLocks/>
          </p:cNvSpPr>
          <p:nvPr/>
        </p:nvSpPr>
        <p:spPr>
          <a:xfrm>
            <a:off x="1133791" y="640238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rgbClr val="0C3A72"/>
                </a:solidFill>
                <a:latin typeface="Arial"/>
                <a:cs typeface="Arial"/>
              </a:rPr>
              <a:t>Problem Statement</a:t>
            </a:r>
            <a:endParaRPr lang="en-US" sz="3200" dirty="0">
              <a:solidFill>
                <a:srgbClr val="0C3A72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4CFE2D-F46E-930B-1BA9-79618B0FF4F5}"/>
              </a:ext>
            </a:extLst>
          </p:cNvPr>
          <p:cNvSpPr txBox="1">
            <a:spLocks/>
          </p:cNvSpPr>
          <p:nvPr/>
        </p:nvSpPr>
        <p:spPr>
          <a:xfrm>
            <a:off x="290512" y="1224642"/>
            <a:ext cx="10220276" cy="2858163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47000"/>
            </a:pPr>
            <a:r>
              <a:rPr lang="en-US" sz="1800" dirty="0">
                <a:solidFill>
                  <a:srgbClr val="0C3A72"/>
                </a:solidFill>
              </a:rPr>
              <a:t>Public transportation faces </a:t>
            </a:r>
            <a:r>
              <a:rPr lang="en-US" sz="1800" b="1" dirty="0">
                <a:solidFill>
                  <a:srgbClr val="0C3A72"/>
                </a:solidFill>
              </a:rPr>
              <a:t>changing passenger demand </a:t>
            </a:r>
            <a:r>
              <a:rPr lang="en-US" sz="1800" dirty="0">
                <a:solidFill>
                  <a:srgbClr val="0C3A72"/>
                </a:solidFill>
              </a:rPr>
              <a:t>throughout the day.</a:t>
            </a:r>
          </a:p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47000"/>
            </a:pPr>
            <a:r>
              <a:rPr lang="en-US" sz="1800" dirty="0">
                <a:solidFill>
                  <a:srgbClr val="0C3A72"/>
                </a:solidFill>
              </a:rPr>
              <a:t>Fixed bus allocation may lead to </a:t>
            </a:r>
            <a:r>
              <a:rPr lang="en-US" sz="1800" b="1" dirty="0">
                <a:solidFill>
                  <a:srgbClr val="0C3A72"/>
                </a:solidFill>
              </a:rPr>
              <a:t>overcrowding</a:t>
            </a:r>
            <a:r>
              <a:rPr lang="en-US" sz="1800" dirty="0">
                <a:solidFill>
                  <a:srgbClr val="0C3A72"/>
                </a:solidFill>
              </a:rPr>
              <a:t> during peak hours.</a:t>
            </a:r>
          </a:p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47000"/>
            </a:pPr>
            <a:r>
              <a:rPr lang="en-US" sz="1800" b="1" dirty="0">
                <a:solidFill>
                  <a:srgbClr val="0C3A72"/>
                </a:solidFill>
              </a:rPr>
              <a:t>Underutilized buses </a:t>
            </a:r>
            <a:r>
              <a:rPr lang="en-US" sz="1800" dirty="0">
                <a:solidFill>
                  <a:srgbClr val="0C3A72"/>
                </a:solidFill>
              </a:rPr>
              <a:t>can increase operational costs.</a:t>
            </a:r>
          </a:p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47000"/>
            </a:pPr>
            <a:r>
              <a:rPr lang="en-US" sz="1800" b="1" dirty="0">
                <a:solidFill>
                  <a:srgbClr val="0C3A72"/>
                </a:solidFill>
              </a:rPr>
              <a:t>Manual demand estimation </a:t>
            </a:r>
            <a:r>
              <a:rPr lang="en-US" sz="1800" dirty="0">
                <a:solidFill>
                  <a:srgbClr val="0C3A72"/>
                </a:solidFill>
              </a:rPr>
              <a:t>makes efficient planning difficult.</a:t>
            </a:r>
          </a:p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47000"/>
            </a:pPr>
            <a:r>
              <a:rPr lang="en-US" sz="1800" dirty="0">
                <a:solidFill>
                  <a:srgbClr val="0C3A72"/>
                </a:solidFill>
              </a:rPr>
              <a:t>Transport planners need a </a:t>
            </a:r>
            <a:r>
              <a:rPr lang="en-US" sz="1800" b="1" dirty="0">
                <a:solidFill>
                  <a:srgbClr val="0C3A72"/>
                </a:solidFill>
              </a:rPr>
              <a:t>data-driven approach </a:t>
            </a:r>
            <a:r>
              <a:rPr lang="en-US" sz="1800" dirty="0">
                <a:solidFill>
                  <a:srgbClr val="0C3A72"/>
                </a:solidFill>
              </a:rPr>
              <a:t>to estimate demand and support bus allocation.</a:t>
            </a:r>
          </a:p>
        </p:txBody>
      </p:sp>
      <p:sp>
        <p:nvSpPr>
          <p:cNvPr id="45" name="Freeform 3">
            <a:extLst>
              <a:ext uri="{FF2B5EF4-FFF2-40B4-BE49-F238E27FC236}">
                <a16:creationId xmlns:a16="http://schemas.microsoft.com/office/drawing/2014/main" id="{512F9B14-E27A-106A-2638-B7C4DD956068}"/>
              </a:ext>
            </a:extLst>
          </p:cNvPr>
          <p:cNvSpPr/>
          <p:nvPr/>
        </p:nvSpPr>
        <p:spPr>
          <a:xfrm>
            <a:off x="476394" y="565850"/>
            <a:ext cx="525530" cy="541783"/>
          </a:xfrm>
          <a:custGeom>
            <a:avLst/>
            <a:gdLst/>
            <a:ahLst/>
            <a:cxnLst/>
            <a:rect l="l" t="t" r="r" b="b"/>
            <a:pathLst>
              <a:path w="923925" h="952500">
                <a:moveTo>
                  <a:pt x="0" y="0"/>
                </a:moveTo>
                <a:lnTo>
                  <a:pt x="923925" y="0"/>
                </a:lnTo>
                <a:lnTo>
                  <a:pt x="9239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6" name="Freeform 4">
            <a:extLst>
              <a:ext uri="{FF2B5EF4-FFF2-40B4-BE49-F238E27FC236}">
                <a16:creationId xmlns:a16="http://schemas.microsoft.com/office/drawing/2014/main" id="{A5A9EA20-BA54-21DF-51DD-BEFBD33AE80F}"/>
              </a:ext>
            </a:extLst>
          </p:cNvPr>
          <p:cNvSpPr/>
          <p:nvPr/>
        </p:nvSpPr>
        <p:spPr>
          <a:xfrm>
            <a:off x="476394" y="670742"/>
            <a:ext cx="422591" cy="433426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DAE1C050-5399-A597-FC73-ECAE1EE23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12" y="3057973"/>
            <a:ext cx="10789578" cy="344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5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6C7DC9E-B97C-5933-BC09-46ECA22A19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63" t="4373" b="7489"/>
          <a:stretch/>
        </p:blipFill>
        <p:spPr>
          <a:xfrm>
            <a:off x="6761823" y="-20112"/>
            <a:ext cx="5428371" cy="60445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62247-F400-4B45-7CF3-25C62D61CD80}"/>
              </a:ext>
            </a:extLst>
          </p:cNvPr>
          <p:cNvSpPr txBox="1">
            <a:spLocks/>
          </p:cNvSpPr>
          <p:nvPr/>
        </p:nvSpPr>
        <p:spPr>
          <a:xfrm>
            <a:off x="290511" y="640238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rgbClr val="0C3A72"/>
                </a:solidFill>
                <a:latin typeface="Arial"/>
                <a:cs typeface="Arial"/>
              </a:rPr>
              <a:t>Proposed Solution</a:t>
            </a:r>
            <a:endParaRPr lang="en-US" sz="3200" dirty="0">
              <a:solidFill>
                <a:srgbClr val="0C3A72"/>
              </a:solidFill>
            </a:endParaRPr>
          </a:p>
        </p:txBody>
      </p:sp>
      <p:sp>
        <p:nvSpPr>
          <p:cNvPr id="7" name="Freeform 24">
            <a:extLst>
              <a:ext uri="{FF2B5EF4-FFF2-40B4-BE49-F238E27FC236}">
                <a16:creationId xmlns:a16="http://schemas.microsoft.com/office/drawing/2014/main" id="{943A0FD6-B077-F222-80C8-6F538A35C3B7}"/>
              </a:ext>
            </a:extLst>
          </p:cNvPr>
          <p:cNvSpPr/>
          <p:nvPr/>
        </p:nvSpPr>
        <p:spPr>
          <a:xfrm>
            <a:off x="0" y="5781502"/>
            <a:ext cx="12192000" cy="1076498"/>
          </a:xfrm>
          <a:custGeom>
            <a:avLst/>
            <a:gdLst/>
            <a:ahLst/>
            <a:cxnLst/>
            <a:rect l="l" t="t" r="r" b="b"/>
            <a:pathLst>
              <a:path w="18288000" h="1508614">
                <a:moveTo>
                  <a:pt x="0" y="0"/>
                </a:moveTo>
                <a:lnTo>
                  <a:pt x="18288000" y="0"/>
                </a:lnTo>
                <a:lnTo>
                  <a:pt x="1828800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solidFill>
            <a:srgbClr val="4CAFC1"/>
          </a:solidFill>
        </p:spPr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0E259119-66FB-9458-DD0E-B9D6AFA9EEE2}"/>
              </a:ext>
            </a:extLst>
          </p:cNvPr>
          <p:cNvSpPr/>
          <p:nvPr/>
        </p:nvSpPr>
        <p:spPr>
          <a:xfrm>
            <a:off x="124630" y="5781502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6EA41C51-2A3F-B58D-2471-BF00DE8AB44A}"/>
              </a:ext>
            </a:extLst>
          </p:cNvPr>
          <p:cNvSpPr txBox="1"/>
          <p:nvPr/>
        </p:nvSpPr>
        <p:spPr>
          <a:xfrm>
            <a:off x="1423067" y="5933427"/>
            <a:ext cx="3038480" cy="731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3200" b="1" dirty="0">
                <a:solidFill>
                  <a:srgbClr val="FFFFFF"/>
                </a:solidFill>
                <a:ea typeface="Roboto Bold"/>
                <a:cs typeface="Roboto Bold"/>
                <a:sym typeface="Roboto Bold"/>
              </a:rPr>
              <a:t>SDG 11: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5D9C8917-78C9-5141-8C27-E86960476C4F}"/>
              </a:ext>
            </a:extLst>
          </p:cNvPr>
          <p:cNvSpPr txBox="1"/>
          <p:nvPr/>
        </p:nvSpPr>
        <p:spPr>
          <a:xfrm>
            <a:off x="2986669" y="6192326"/>
            <a:ext cx="5434890" cy="365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000" b="1" dirty="0">
                <a:solidFill>
                  <a:srgbClr val="FFFFFF"/>
                </a:solidFill>
                <a:ea typeface="Roboto Bold"/>
                <a:cs typeface="Roboto Bold"/>
                <a:sym typeface="Roboto Bold"/>
              </a:rPr>
              <a:t>Sustainable Cities and Communities</a:t>
            </a:r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534B51D9-78F0-8215-7D96-37AFC9B9D74B}"/>
              </a:ext>
            </a:extLst>
          </p:cNvPr>
          <p:cNvSpPr/>
          <p:nvPr/>
        </p:nvSpPr>
        <p:spPr>
          <a:xfrm>
            <a:off x="6761823" y="5832185"/>
            <a:ext cx="215284" cy="1014370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CD33DF92-0F79-8A78-468A-9F2B61E16193}"/>
              </a:ext>
            </a:extLst>
          </p:cNvPr>
          <p:cNvSpPr txBox="1"/>
          <p:nvPr/>
        </p:nvSpPr>
        <p:spPr>
          <a:xfrm>
            <a:off x="7545722" y="5933427"/>
            <a:ext cx="5547516" cy="772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000" dirty="0">
                <a:solidFill>
                  <a:srgbClr val="FFFFFF"/>
                </a:solidFill>
                <a:ea typeface="Roboto"/>
                <a:cs typeface="Roboto"/>
                <a:sym typeface="Roboto"/>
              </a:rPr>
              <a:t>Supports more efficient public transport</a:t>
            </a:r>
          </a:p>
          <a:p>
            <a:pPr algn="l">
              <a:lnSpc>
                <a:spcPts val="3090"/>
              </a:lnSpc>
            </a:pPr>
            <a:r>
              <a:rPr lang="en-US" sz="2000" dirty="0">
                <a:solidFill>
                  <a:srgbClr val="FFFFFF"/>
                </a:solidFill>
                <a:ea typeface="Roboto"/>
                <a:cs typeface="Roboto"/>
                <a:sym typeface="Roboto"/>
              </a:rPr>
              <a:t>planning and smarter urban mobility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21AB4CE1-4A9A-0447-59D3-9ED6B10FA82C}"/>
              </a:ext>
            </a:extLst>
          </p:cNvPr>
          <p:cNvSpPr txBox="1"/>
          <p:nvPr/>
        </p:nvSpPr>
        <p:spPr>
          <a:xfrm>
            <a:off x="290511" y="1393703"/>
            <a:ext cx="6118756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b="1" dirty="0" err="1">
                <a:solidFill>
                  <a:srgbClr val="24A9AD"/>
                </a:solidFill>
                <a:ea typeface="Roboto Bold"/>
                <a:cs typeface="Roboto Bold"/>
                <a:sym typeface="Roboto Bold"/>
              </a:rPr>
              <a:t>TransitAI</a:t>
            </a:r>
            <a:r>
              <a:rPr lang="en-US" dirty="0">
                <a:solidFill>
                  <a:srgbClr val="FFFFFF"/>
                </a:solidFill>
                <a:ea typeface="Roboto"/>
                <a:cs typeface="Roboto"/>
                <a:sym typeface="Roboto"/>
              </a:rPr>
              <a:t> </a:t>
            </a:r>
            <a:r>
              <a:rPr lang="en-US" dirty="0">
                <a:solidFill>
                  <a:srgbClr val="0C3A72"/>
                </a:solidFill>
                <a:ea typeface="Roboto"/>
                <a:cs typeface="Roboto"/>
                <a:sym typeface="Roboto"/>
              </a:rPr>
              <a:t>is an AI-based bus demand prediction and route planning system that uses </a:t>
            </a:r>
            <a:r>
              <a:rPr lang="en-US" b="1" dirty="0">
                <a:solidFill>
                  <a:srgbClr val="24A9AD"/>
                </a:solidFill>
                <a:ea typeface="Roboto Bold"/>
                <a:cs typeface="Roboto Bold"/>
                <a:sym typeface="Roboto Bold"/>
              </a:rPr>
              <a:t>Machine Learning </a:t>
            </a:r>
            <a:r>
              <a:rPr lang="en-US" dirty="0">
                <a:solidFill>
                  <a:srgbClr val="0C3A72"/>
                </a:solidFill>
                <a:ea typeface="Roboto"/>
                <a:cs typeface="Roboto"/>
                <a:sym typeface="Roboto"/>
              </a:rPr>
              <a:t>to estimate passenger demand and recommend suitable bus allocation.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A4B13D-A438-3ACD-AD50-956AECBFA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7" y="2635524"/>
            <a:ext cx="7531135" cy="2934379"/>
          </a:xfrm>
          <a:prstGeom prst="rect">
            <a:avLst/>
          </a:prstGeom>
        </p:spPr>
      </p:pic>
      <p:sp>
        <p:nvSpPr>
          <p:cNvPr id="18" name="TextBox 10">
            <a:extLst>
              <a:ext uri="{FF2B5EF4-FFF2-40B4-BE49-F238E27FC236}">
                <a16:creationId xmlns:a16="http://schemas.microsoft.com/office/drawing/2014/main" id="{B51C2BC2-3CB5-7692-2777-8CD2AD6C7F20}"/>
              </a:ext>
            </a:extLst>
          </p:cNvPr>
          <p:cNvSpPr txBox="1"/>
          <p:nvPr/>
        </p:nvSpPr>
        <p:spPr>
          <a:xfrm>
            <a:off x="205102" y="3939823"/>
            <a:ext cx="1601930" cy="671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Demand</a:t>
            </a:r>
          </a:p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Prediction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C8A77CD9-227D-FD70-8349-1F99AACE45EA}"/>
              </a:ext>
            </a:extLst>
          </p:cNvPr>
          <p:cNvSpPr txBox="1"/>
          <p:nvPr/>
        </p:nvSpPr>
        <p:spPr>
          <a:xfrm>
            <a:off x="87784" y="4750835"/>
            <a:ext cx="1836566" cy="54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b="1">
                <a:solidFill>
                  <a:srgbClr val="080F2F"/>
                </a:solidFill>
                <a:ea typeface="Roboto"/>
                <a:cs typeface="Roboto"/>
                <a:sym typeface="Roboto"/>
              </a:rPr>
              <a:t>Estimate passenger</a:t>
            </a:r>
          </a:p>
          <a:p>
            <a:pPr algn="ctr">
              <a:lnSpc>
                <a:spcPts val="2165"/>
              </a:lnSpc>
            </a:pPr>
            <a:r>
              <a:rPr lang="en-US" sz="1546" b="1">
                <a:solidFill>
                  <a:srgbClr val="080F2F"/>
                </a:solidFill>
                <a:ea typeface="Roboto"/>
                <a:cs typeface="Roboto"/>
                <a:sym typeface="Roboto"/>
              </a:rPr>
              <a:t>demand from input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AAE28BB-A134-16E2-F8E3-A27960FA851E}"/>
              </a:ext>
            </a:extLst>
          </p:cNvPr>
          <p:cNvSpPr txBox="1"/>
          <p:nvPr/>
        </p:nvSpPr>
        <p:spPr>
          <a:xfrm>
            <a:off x="2088178" y="3960724"/>
            <a:ext cx="1619673" cy="671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Smart Bus</a:t>
            </a:r>
          </a:p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Allocation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E4738CF3-CA22-4DF1-4039-60D482E75609}"/>
              </a:ext>
            </a:extLst>
          </p:cNvPr>
          <p:cNvSpPr txBox="1"/>
          <p:nvPr/>
        </p:nvSpPr>
        <p:spPr>
          <a:xfrm>
            <a:off x="2007423" y="4771736"/>
            <a:ext cx="1781183" cy="54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b="1">
                <a:solidFill>
                  <a:srgbClr val="080F2F"/>
                </a:solidFill>
                <a:ea typeface="Roboto"/>
                <a:cs typeface="Roboto"/>
                <a:sym typeface="Roboto"/>
              </a:rPr>
              <a:t>Recommend buses</a:t>
            </a:r>
          </a:p>
          <a:p>
            <a:pPr algn="ctr">
              <a:lnSpc>
                <a:spcPts val="2165"/>
              </a:lnSpc>
            </a:pPr>
            <a:r>
              <a:rPr lang="en-US" sz="1546" b="1">
                <a:solidFill>
                  <a:srgbClr val="080F2F"/>
                </a:solidFill>
                <a:ea typeface="Roboto"/>
                <a:cs typeface="Roboto"/>
                <a:sym typeface="Roboto"/>
              </a:rPr>
              <a:t>based on predicted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48ABBEAD-1379-DC27-0BE8-BDA11190A7D4}"/>
              </a:ext>
            </a:extLst>
          </p:cNvPr>
          <p:cNvSpPr txBox="1"/>
          <p:nvPr/>
        </p:nvSpPr>
        <p:spPr>
          <a:xfrm>
            <a:off x="3880873" y="3951326"/>
            <a:ext cx="1679323" cy="671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Forecast &amp;</a:t>
            </a:r>
          </a:p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Dashboard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A2002093-FB49-97A6-C0C3-097BB7A5A7C2}"/>
              </a:ext>
            </a:extLst>
          </p:cNvPr>
          <p:cNvSpPr txBox="1"/>
          <p:nvPr/>
        </p:nvSpPr>
        <p:spPr>
          <a:xfrm>
            <a:off x="3829384" y="4762338"/>
            <a:ext cx="1782301" cy="54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b="1">
                <a:solidFill>
                  <a:srgbClr val="080F2F"/>
                </a:solidFill>
                <a:ea typeface="Roboto"/>
                <a:cs typeface="Roboto"/>
                <a:sym typeface="Roboto"/>
              </a:rPr>
              <a:t>Review predictions,</a:t>
            </a:r>
          </a:p>
          <a:p>
            <a:pPr algn="ctr">
              <a:lnSpc>
                <a:spcPts val="2165"/>
              </a:lnSpc>
            </a:pPr>
            <a:r>
              <a:rPr lang="en-US" sz="1546" b="1">
                <a:solidFill>
                  <a:srgbClr val="080F2F"/>
                </a:solidFill>
                <a:ea typeface="Roboto"/>
                <a:cs typeface="Roboto"/>
                <a:sym typeface="Roboto"/>
              </a:rPr>
              <a:t>trends, and model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0C5C07A2-EF63-ADDC-010B-24D75C1C3F38}"/>
              </a:ext>
            </a:extLst>
          </p:cNvPr>
          <p:cNvSpPr txBox="1"/>
          <p:nvPr/>
        </p:nvSpPr>
        <p:spPr>
          <a:xfrm>
            <a:off x="5699585" y="3939823"/>
            <a:ext cx="1661580" cy="671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Interactive</a:t>
            </a:r>
          </a:p>
          <a:p>
            <a:pPr algn="ctr">
              <a:lnSpc>
                <a:spcPts val="2623"/>
              </a:lnSpc>
            </a:pPr>
            <a:r>
              <a:rPr lang="en-US" sz="2623" b="1" dirty="0">
                <a:solidFill>
                  <a:srgbClr val="0C3A72"/>
                </a:solidFill>
                <a:ea typeface="Roboto Bold"/>
                <a:cs typeface="Roboto Bold"/>
                <a:sym typeface="Roboto Bold"/>
              </a:rPr>
              <a:t>Delhi Map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A0D8D95C-0556-D9C0-4B79-5E7679724EF6}"/>
              </a:ext>
            </a:extLst>
          </p:cNvPr>
          <p:cNvSpPr txBox="1"/>
          <p:nvPr/>
        </p:nvSpPr>
        <p:spPr>
          <a:xfrm>
            <a:off x="5597205" y="4750835"/>
            <a:ext cx="1866340" cy="54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b="1" dirty="0">
                <a:solidFill>
                  <a:srgbClr val="080F2F"/>
                </a:solidFill>
                <a:ea typeface="Roboto"/>
                <a:cs typeface="Roboto"/>
                <a:sym typeface="Roboto"/>
              </a:rPr>
              <a:t>Explore GTFS-based</a:t>
            </a:r>
          </a:p>
          <a:p>
            <a:pPr algn="ctr">
              <a:lnSpc>
                <a:spcPts val="2165"/>
              </a:lnSpc>
            </a:pPr>
            <a:r>
              <a:rPr lang="en-US" sz="1546" b="1" dirty="0">
                <a:solidFill>
                  <a:srgbClr val="080F2F"/>
                </a:solidFill>
                <a:ea typeface="Roboto"/>
                <a:cs typeface="Roboto"/>
                <a:sym typeface="Roboto"/>
              </a:rPr>
              <a:t>bus stops and route</a:t>
            </a:r>
          </a:p>
        </p:txBody>
      </p:sp>
    </p:spTree>
    <p:extLst>
      <p:ext uri="{BB962C8B-B14F-4D97-AF65-F5344CB8AC3E}">
        <p14:creationId xmlns:p14="http://schemas.microsoft.com/office/powerpoint/2010/main" val="87968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30691"/>
            <a:ext cx="12192000" cy="227310"/>
          </a:xfrm>
          <a:prstGeom prst="rect">
            <a:avLst/>
          </a:prstGeom>
          <a:solidFill>
            <a:srgbClr val="3EC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62247-F400-4B45-7CF3-25C62D61CD80}"/>
              </a:ext>
            </a:extLst>
          </p:cNvPr>
          <p:cNvSpPr txBox="1">
            <a:spLocks/>
          </p:cNvSpPr>
          <p:nvPr/>
        </p:nvSpPr>
        <p:spPr>
          <a:xfrm>
            <a:off x="290511" y="640238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rgbClr val="0C3A72"/>
                </a:solidFill>
                <a:latin typeface="Arial"/>
                <a:cs typeface="Arial"/>
              </a:rPr>
              <a:t>System  Approach</a:t>
            </a:r>
            <a:endParaRPr lang="en-US" sz="3200" dirty="0">
              <a:solidFill>
                <a:srgbClr val="0C3A7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6AA072-9221-C049-7963-15BE07CA5329}"/>
              </a:ext>
            </a:extLst>
          </p:cNvPr>
          <p:cNvSpPr txBox="1"/>
          <p:nvPr/>
        </p:nvSpPr>
        <p:spPr>
          <a:xfrm>
            <a:off x="406981" y="1333543"/>
            <a:ext cx="609765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C3A72"/>
                </a:solidFill>
              </a:rPr>
              <a:t>System Flow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Collect and prepare the </a:t>
            </a:r>
            <a:r>
              <a:rPr lang="en-US" b="1" dirty="0">
                <a:solidFill>
                  <a:srgbClr val="0C3A72"/>
                </a:solidFill>
              </a:rPr>
              <a:t>synthetic bus-demand </a:t>
            </a:r>
            <a:r>
              <a:rPr lang="en-US" dirty="0">
                <a:solidFill>
                  <a:srgbClr val="0C3A72"/>
                </a:solidFill>
              </a:rPr>
              <a:t>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Process the </a:t>
            </a:r>
            <a:r>
              <a:rPr lang="en-US" b="1" dirty="0">
                <a:solidFill>
                  <a:srgbClr val="0C3A72"/>
                </a:solidFill>
              </a:rPr>
              <a:t>input features </a:t>
            </a:r>
            <a:r>
              <a:rPr lang="en-US" dirty="0">
                <a:solidFill>
                  <a:srgbClr val="0C3A72"/>
                </a:solidFill>
              </a:rPr>
              <a:t>required by the prediction model.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C3A72"/>
                </a:solidFill>
              </a:rPr>
              <a:t>Train</a:t>
            </a:r>
            <a:r>
              <a:rPr lang="en-US" dirty="0">
                <a:solidFill>
                  <a:srgbClr val="0C3A72"/>
                </a:solidFill>
              </a:rPr>
              <a:t> and evaluate the machine learning model.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Save the trained model for application use.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Accept user inputs through the </a:t>
            </a:r>
            <a:r>
              <a:rPr lang="en-US" b="1" dirty="0">
                <a:solidFill>
                  <a:srgbClr val="0C3A72"/>
                </a:solidFill>
              </a:rPr>
              <a:t>Flask web </a:t>
            </a:r>
            <a:r>
              <a:rPr lang="en-US" dirty="0">
                <a:solidFill>
                  <a:srgbClr val="0C3A72"/>
                </a:solidFill>
              </a:rPr>
              <a:t>application.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C3A72"/>
                </a:solidFill>
              </a:rPr>
              <a:t>Generate</a:t>
            </a:r>
            <a:r>
              <a:rPr lang="en-US" dirty="0">
                <a:solidFill>
                  <a:srgbClr val="0C3A72"/>
                </a:solidFill>
              </a:rPr>
              <a:t> predicted passenger demand.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Recommend the </a:t>
            </a:r>
            <a:r>
              <a:rPr lang="en-US" b="1" dirty="0">
                <a:solidFill>
                  <a:srgbClr val="0C3A72"/>
                </a:solidFill>
              </a:rPr>
              <a:t>required number of buses</a:t>
            </a:r>
            <a:r>
              <a:rPr lang="en-US" dirty="0">
                <a:solidFill>
                  <a:srgbClr val="0C3A72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Display </a:t>
            </a:r>
            <a:r>
              <a:rPr lang="en-US" b="1" dirty="0">
                <a:solidFill>
                  <a:srgbClr val="0C3A72"/>
                </a:solidFill>
              </a:rPr>
              <a:t>predictions, forecasts, and dashboard information</a:t>
            </a:r>
            <a:r>
              <a:rPr lang="en-US" dirty="0">
                <a:solidFill>
                  <a:srgbClr val="0C3A72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C3A72"/>
                </a:solidFill>
              </a:rPr>
              <a:t>Visualize Delhi </a:t>
            </a:r>
            <a:r>
              <a:rPr lang="en-US" b="1" dirty="0">
                <a:solidFill>
                  <a:srgbClr val="0C3A72"/>
                </a:solidFill>
              </a:rPr>
              <a:t>bus stops and route sequences </a:t>
            </a:r>
            <a:r>
              <a:rPr lang="en-US" dirty="0">
                <a:solidFill>
                  <a:srgbClr val="0C3A72"/>
                </a:solidFill>
              </a:rPr>
              <a:t>using </a:t>
            </a:r>
            <a:r>
              <a:rPr lang="en-US" b="1" dirty="0">
                <a:solidFill>
                  <a:srgbClr val="0C3A72"/>
                </a:solidFill>
              </a:rPr>
              <a:t>GTFS data</a:t>
            </a:r>
            <a:r>
              <a:rPr lang="en-US" dirty="0">
                <a:solidFill>
                  <a:srgbClr val="0C3A72"/>
                </a:solidFill>
              </a:rPr>
              <a:t>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BEB477-73CD-05BB-19AD-91D5BC8B546C}"/>
              </a:ext>
            </a:extLst>
          </p:cNvPr>
          <p:cNvSpPr/>
          <p:nvPr/>
        </p:nvSpPr>
        <p:spPr>
          <a:xfrm>
            <a:off x="6672470" y="6217762"/>
            <a:ext cx="1099930" cy="249299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D62588-A525-5DCD-433C-318E517D76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31" t="1404" r="816" b="3298"/>
          <a:stretch/>
        </p:blipFill>
        <p:spPr>
          <a:xfrm>
            <a:off x="6775138" y="47568"/>
            <a:ext cx="5416862" cy="6535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6C6097-4FA6-6D7B-A612-0E37A20B4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7790" b="98087" l="0" r="52632">
                        <a14:foregroundMark x1="60" y1="89692" x2="2033" y2="79384"/>
                        <a14:foregroundMark x1="2033" y1="79384" x2="8074" y2="86079"/>
                        <a14:foregroundMark x1="8074" y1="86079" x2="17584" y2="90011"/>
                        <a14:foregroundMark x1="17584" y1="90011" x2="26914" y2="89267"/>
                        <a14:foregroundMark x1="26914" y1="89267" x2="52273" y2="97450"/>
                        <a14:foregroundMark x1="52273" y1="97450" x2="4366" y2="98725"/>
                        <a14:foregroundMark x1="4366" y1="98725" x2="658" y2="96068"/>
                        <a14:foregroundMark x1="658" y1="96068" x2="0" y2="89267"/>
                        <a14:foregroundMark x1="18481" y1="87885" x2="14055" y2="85016"/>
                        <a14:foregroundMark x1="14055" y1="85016" x2="18062" y2="87035"/>
                        <a14:foregroundMark x1="14833" y1="87248" x2="16866" y2="85228"/>
                        <a14:foregroundMark x1="17105" y1="85866" x2="15431" y2="87035"/>
                        <a14:foregroundMark x1="7416" y1="91180" x2="20455" y2="95218"/>
                        <a14:foregroundMark x1="20455" y1="95218" x2="13337" y2="98087"/>
                        <a14:foregroundMark x1="13337" y1="98087" x2="8553" y2="95218"/>
                        <a14:foregroundMark x1="8553" y1="95218" x2="8014" y2="91817"/>
                        <a14:backgroundMark x1="41388" y1="83103" x2="11722" y2="81296"/>
                        <a14:backgroundMark x1="11722" y1="81296" x2="30024" y2="74176"/>
                        <a14:backgroundMark x1="30024" y1="74176" x2="36483" y2="73645"/>
                        <a14:backgroundMark x1="36483" y1="73645" x2="39414" y2="80871"/>
                        <a14:backgroundMark x1="39414" y1="80871" x2="41388" y2="82997"/>
                      </a14:backgroundRemoval>
                    </a14:imgEffect>
                  </a14:imgLayer>
                </a14:imgProps>
              </a:ext>
            </a:extLst>
          </a:blip>
          <a:srcRect t="75338" r="41495"/>
          <a:stretch/>
        </p:blipFill>
        <p:spPr>
          <a:xfrm>
            <a:off x="3239" y="5166650"/>
            <a:ext cx="7129081" cy="16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7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0B1051-4FF5-2F98-0BB1-2D19C6347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69" b="19235" l="58852" r="98565">
                        <a14:foregroundMark x1="75478" y1="7970" x2="72428" y2="12434"/>
                        <a14:foregroundMark x1="72428" y1="12434" x2="88756" y2="15622"/>
                        <a14:foregroundMark x1="88756" y1="15622" x2="94318" y2="14453"/>
                        <a14:foregroundMark x1="94318" y1="14453" x2="95694" y2="5207"/>
                        <a14:foregroundMark x1="95694" y1="5207" x2="91447" y2="8077"/>
                        <a14:foregroundMark x1="91447" y1="8077" x2="75299" y2="8714"/>
                        <a14:foregroundMark x1="98325" y1="17853" x2="94438" y2="15303"/>
                        <a14:foregroundMark x1="94438" y1="15303" x2="91926" y2="7439"/>
                        <a14:foregroundMark x1="91926" y1="7439" x2="81579" y2="8289"/>
                        <a14:foregroundMark x1="81579" y1="8289" x2="93541" y2="19447"/>
                        <a14:foregroundMark x1="93541" y1="19447" x2="95156" y2="17109"/>
                        <a14:foregroundMark x1="99043" y1="19129" x2="94797" y2="5313"/>
                        <a14:foregroundMark x1="94797" y1="5313" x2="98565" y2="17428"/>
                        <a14:foregroundMark x1="97488" y1="17428" x2="99761" y2="7970"/>
                        <a14:foregroundMark x1="99761" y1="7970" x2="97787" y2="1169"/>
                        <a14:foregroundMark x1="97787" y1="1169" x2="82117" y2="1169"/>
                        <a14:foregroundMark x1="82117" y1="1169" x2="76854" y2="3188"/>
                        <a14:foregroundMark x1="76854" y1="3188" x2="70514" y2="14878"/>
                      </a14:backgroundRemoval>
                    </a14:imgEffect>
                  </a14:imgLayer>
                </a14:imgProps>
              </a:ext>
            </a:extLst>
          </a:blip>
          <a:srcRect l="68289" b="81678"/>
          <a:stretch/>
        </p:blipFill>
        <p:spPr>
          <a:xfrm>
            <a:off x="3953047" y="1847185"/>
            <a:ext cx="3864055" cy="12565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1164657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62247-F400-4B45-7CF3-25C62D61CD80}"/>
              </a:ext>
            </a:extLst>
          </p:cNvPr>
          <p:cNvSpPr txBox="1">
            <a:spLocks/>
          </p:cNvSpPr>
          <p:nvPr/>
        </p:nvSpPr>
        <p:spPr>
          <a:xfrm>
            <a:off x="290511" y="640238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Technology Stack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09B0D-55C2-3DDF-330C-F7E6D2246C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66" b="83017"/>
          <a:stretch/>
        </p:blipFill>
        <p:spPr>
          <a:xfrm>
            <a:off x="6737683" y="0"/>
            <a:ext cx="5451077" cy="1164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98DAD-090A-F390-F807-1E7E73CF66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441" t="21614" r="28742" b="13997"/>
          <a:stretch/>
        </p:blipFill>
        <p:spPr>
          <a:xfrm>
            <a:off x="0" y="1212781"/>
            <a:ext cx="5003384" cy="5524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870177-A6B6-F589-12D0-B836E02E13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58" t="21614" r="816" b="13997"/>
          <a:stretch/>
        </p:blipFill>
        <p:spPr>
          <a:xfrm>
            <a:off x="7817102" y="1212781"/>
            <a:ext cx="4257642" cy="5524901"/>
          </a:xfrm>
          <a:prstGeom prst="rect">
            <a:avLst/>
          </a:prstGeom>
        </p:spPr>
      </p:pic>
      <p:pic>
        <p:nvPicPr>
          <p:cNvPr id="4105" name="Picture 9">
            <a:extLst>
              <a:ext uri="{FF2B5EF4-FFF2-40B4-BE49-F238E27FC236}">
                <a16:creationId xmlns:a16="http://schemas.microsoft.com/office/drawing/2014/main" id="{C5CF589C-C868-BFCE-740D-7B1E72B380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02" t="26272" r="38671" b="31703"/>
          <a:stretch/>
        </p:blipFill>
        <p:spPr bwMode="auto">
          <a:xfrm>
            <a:off x="5003384" y="3276600"/>
            <a:ext cx="2813718" cy="220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60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7613583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2BE21-D556-95A0-A4A8-8FCDBD5C129E}"/>
              </a:ext>
            </a:extLst>
          </p:cNvPr>
          <p:cNvSpPr txBox="1"/>
          <p:nvPr/>
        </p:nvSpPr>
        <p:spPr>
          <a:xfrm>
            <a:off x="261636" y="519764"/>
            <a:ext cx="8112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C3A72"/>
                </a:solidFill>
              </a:rPr>
              <a:t>1. Model Evaluation and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Evaluated trained machine learning model using a temporal holdout test set.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Measured prediction error using MAE and RMSE.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Used the R² score to assess how well the model explains demand variation.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AF86D0-56EE-ED12-96A7-78D7CF930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437" y="3288433"/>
            <a:ext cx="4164495" cy="35695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DCBB9D-D628-7FD1-1B5E-2CA879D6D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53" y="3526558"/>
            <a:ext cx="6672051" cy="33360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1447F0-6C53-71EB-4A04-30A61EEC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287" y="259882"/>
            <a:ext cx="4187645" cy="29911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711D1D-13FE-1BA3-38B2-AFCD110C06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775" t="18806" r="2033" b="54667"/>
          <a:stretch/>
        </p:blipFill>
        <p:spPr>
          <a:xfrm>
            <a:off x="1822468" y="1755469"/>
            <a:ext cx="4510987" cy="16349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A40CBEE8-E61D-3A31-1A13-62B8A69767D3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90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CFA67-9E0F-C33D-F950-FF5D1975FD00}"/>
              </a:ext>
            </a:extLst>
          </p:cNvPr>
          <p:cNvSpPr txBox="1"/>
          <p:nvPr/>
        </p:nvSpPr>
        <p:spPr>
          <a:xfrm>
            <a:off x="261636" y="570139"/>
            <a:ext cx="116687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C3A72"/>
                </a:solidFill>
              </a:rPr>
              <a:t>2. Passenger Demand Prediction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Accepts route, day type, time period, weather, and event information as user inputs.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Uses the trained machine learning model to estimate passenger demand.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Displays the predicted passenger count through the Flask web interface.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C3A72"/>
                </a:solidFill>
              </a:rPr>
              <a:t>Helps users understand expected demand for a selected scenario.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AE9C80-2EC8-F481-9C3D-27AA0CA73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9"/>
          <a:stretch/>
        </p:blipFill>
        <p:spPr>
          <a:xfrm>
            <a:off x="0" y="944390"/>
            <a:ext cx="10799545" cy="5504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0749D2-17AC-6E87-315D-EF2348142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" t="25106" r="4247"/>
          <a:stretch/>
        </p:blipFill>
        <p:spPr>
          <a:xfrm>
            <a:off x="6667098" y="2516279"/>
            <a:ext cx="5524902" cy="3164617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AA864445-3D65-9151-D277-ABB2F5705031}"/>
              </a:ext>
            </a:extLst>
          </p:cNvPr>
          <p:cNvSpPr/>
          <p:nvPr/>
        </p:nvSpPr>
        <p:spPr>
          <a:xfrm>
            <a:off x="8806389" y="1770177"/>
            <a:ext cx="3123975" cy="1552238"/>
          </a:xfrm>
          <a:prstGeom prst="wedgeRoundRectCallout">
            <a:avLst>
              <a:gd name="adj1" fmla="val -64785"/>
              <a:gd name="adj2" fmla="val 39200"/>
              <a:gd name="adj3" fmla="val 16667"/>
            </a:avLst>
          </a:prstGeom>
          <a:solidFill>
            <a:srgbClr val="087E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Example result: If the model predicts 42 passengers, the application displays the estimated demand as 42 passengers</a:t>
            </a:r>
            <a:endParaRPr lang="en-IN" b="1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840825F-EE04-1A22-2B5D-E7B8C0DFA00A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8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62247-F400-4B45-7CF3-25C62D61CD80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1311E-4E15-E2B0-DDCA-AB379CB8394C}"/>
              </a:ext>
            </a:extLst>
          </p:cNvPr>
          <p:cNvSpPr txBox="1"/>
          <p:nvPr/>
        </p:nvSpPr>
        <p:spPr>
          <a:xfrm>
            <a:off x="261636" y="519764"/>
            <a:ext cx="11668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C3A72"/>
                </a:solidFill>
              </a:rPr>
              <a:t>3. Passenger Demand Prediction</a:t>
            </a:r>
          </a:p>
          <a:p>
            <a:pPr algn="just"/>
            <a:r>
              <a:rPr lang="en-US" dirty="0">
                <a:solidFill>
                  <a:srgbClr val="0C3A72"/>
                </a:solidFill>
              </a:rPr>
              <a:t>Converts predicted passenger demand into a recommended number of buses. Uses a bus capacity of 40 passengers per bus. Applies a capacity-based calculation to avoid allocating fewer buses than required.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EC65B9-739B-6E48-9E6B-FBC27F172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000" y="1471015"/>
            <a:ext cx="6060088" cy="53869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08604BF-8D68-9436-6CEE-A66F8A8D7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6334"/>
            <a:ext cx="6363093" cy="36094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A53E38D-2B34-B7A7-F35C-594FE222B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1"/>
          <a:stretch/>
        </p:blipFill>
        <p:spPr>
          <a:xfrm>
            <a:off x="0" y="4509017"/>
            <a:ext cx="6318000" cy="2348983"/>
          </a:xfrm>
          <a:prstGeom prst="rect">
            <a:avLst/>
          </a:prstGeom>
        </p:spPr>
      </p:pic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BEED0167-E134-6536-12A6-D825414B349C}"/>
              </a:ext>
            </a:extLst>
          </p:cNvPr>
          <p:cNvSpPr/>
          <p:nvPr/>
        </p:nvSpPr>
        <p:spPr>
          <a:xfrm>
            <a:off x="8999621" y="1218246"/>
            <a:ext cx="2427320" cy="974664"/>
          </a:xfrm>
          <a:prstGeom prst="wedgeRoundRectCallout">
            <a:avLst>
              <a:gd name="adj1" fmla="val -77078"/>
              <a:gd name="adj2" fmla="val 50063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Supports downloading forecast results as a CSV file.</a:t>
            </a:r>
          </a:p>
        </p:txBody>
      </p:sp>
    </p:spTree>
    <p:extLst>
      <p:ext uri="{BB962C8B-B14F-4D97-AF65-F5344CB8AC3E}">
        <p14:creationId xmlns:p14="http://schemas.microsoft.com/office/powerpoint/2010/main" val="216044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45C768-2D0D-92CE-0877-271B52F85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3" y="628998"/>
            <a:ext cx="11860878" cy="61815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C45B6E-8489-8F21-F68E-449D67D15BF9}"/>
              </a:ext>
            </a:extLst>
          </p:cNvPr>
          <p:cNvSpPr txBox="1"/>
          <p:nvPr/>
        </p:nvSpPr>
        <p:spPr>
          <a:xfrm>
            <a:off x="4818545" y="62899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C3A72"/>
                </a:solidFill>
              </a:rPr>
              <a:t>4. Analytics Dashboard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0BDBFF-0B30-45A1-4092-C51A8CE55123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55AAEDF0-EF8F-F274-DE41-7B4B03D61AC6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033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9EB3C0-676C-92CF-F8EC-589AAB067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7" y="587245"/>
            <a:ext cx="11138045" cy="6275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25693B-1F68-8083-0BAB-26D8E97CE882}"/>
              </a:ext>
            </a:extLst>
          </p:cNvPr>
          <p:cNvSpPr txBox="1"/>
          <p:nvPr/>
        </p:nvSpPr>
        <p:spPr>
          <a:xfrm>
            <a:off x="3662412" y="52849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C3A72"/>
                </a:solidFill>
              </a:rPr>
              <a:t>4. Analytics Dashboard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4079F4-DA64-ABCA-A8B0-FE4F568A6B98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F25A8C-3A0C-F261-69CA-9D93E2E08460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31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A05B62-1246-AC8F-B481-B81343BA0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0" y="519764"/>
            <a:ext cx="11482939" cy="64509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59F6F6-899C-2A5C-3548-5FFEAFFDEBED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DDC0D0-D53B-02DB-67AD-125B0284DF7E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735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9F6F6-899C-2A5C-3548-5FFEAFFDEBED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DDC0D0-D53B-02DB-67AD-125B0284DF7E}"/>
              </a:ext>
            </a:extLst>
          </p:cNvPr>
          <p:cNvSpPr txBox="1">
            <a:spLocks/>
          </p:cNvSpPr>
          <p:nvPr/>
        </p:nvSpPr>
        <p:spPr>
          <a:xfrm>
            <a:off x="261636" y="50375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4FD9F-1739-0C9A-107A-513AF5F787A2}"/>
              </a:ext>
            </a:extLst>
          </p:cNvPr>
          <p:cNvSpPr txBox="1"/>
          <p:nvPr/>
        </p:nvSpPr>
        <p:spPr>
          <a:xfrm>
            <a:off x="178067" y="53116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C3A72"/>
                </a:solidFill>
              </a:rPr>
              <a:t>5. Interactive Delhi GTFS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7BA9E-4E04-3836-08BC-70FE074C6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7822"/>
            <a:ext cx="12192000" cy="5801361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01DD01A-74A4-C4A0-8F7E-B608BE0B02BE}"/>
              </a:ext>
            </a:extLst>
          </p:cNvPr>
          <p:cNvSpPr/>
          <p:nvPr/>
        </p:nvSpPr>
        <p:spPr>
          <a:xfrm>
            <a:off x="5255393" y="50375"/>
            <a:ext cx="3503596" cy="1759174"/>
          </a:xfrm>
          <a:prstGeom prst="wedgeRoundRectCallout">
            <a:avLst>
              <a:gd name="adj1" fmla="val -64785"/>
              <a:gd name="adj2" fmla="val 39200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63570"/>
                </a:solidFill>
              </a:rPr>
              <a:t>Integrates Delhi transit information from GTFS files. Displays bus stops as markers on an interactive map. Helps users explore the geographical distribution of stops and routes.</a:t>
            </a:r>
            <a:endParaRPr lang="en-IN" b="1" dirty="0">
              <a:solidFill>
                <a:srgbClr val="2635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82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6B1902-4AAB-5F9C-C53B-2B6D6ED7261D}"/>
              </a:ext>
            </a:extLst>
          </p:cNvPr>
          <p:cNvSpPr txBox="1">
            <a:spLocks/>
          </p:cNvSpPr>
          <p:nvPr/>
        </p:nvSpPr>
        <p:spPr>
          <a:xfrm>
            <a:off x="290511" y="640238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rgbClr val="263570"/>
                </a:solidFill>
                <a:latin typeface="Arial"/>
                <a:cs typeface="Arial"/>
              </a:rPr>
              <a:t>Conclusion</a:t>
            </a:r>
            <a:endParaRPr lang="en-US" sz="3200" dirty="0">
              <a:solidFill>
                <a:srgbClr val="26357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5A19E4-3B83-AB3C-F44D-D86481A2B14B}"/>
              </a:ext>
            </a:extLst>
          </p:cNvPr>
          <p:cNvSpPr txBox="1">
            <a:spLocks/>
          </p:cNvSpPr>
          <p:nvPr/>
        </p:nvSpPr>
        <p:spPr>
          <a:xfrm>
            <a:off x="349778" y="1226018"/>
            <a:ext cx="10597622" cy="5473165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b="1" dirty="0" err="1">
                <a:solidFill>
                  <a:srgbClr val="0C3A72"/>
                </a:solidFill>
                <a:latin typeface="Franklin Gothic Book"/>
              </a:rPr>
              <a:t>TransitAI</a:t>
            </a: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 demonstrates a machine learning-based approach to passenger demand </a:t>
            </a:r>
            <a:r>
              <a:rPr lang="en-US" sz="1800" b="1" dirty="0">
                <a:solidFill>
                  <a:srgbClr val="0C3A72"/>
                </a:solidFill>
                <a:latin typeface="Franklin Gothic Book"/>
              </a:rPr>
              <a:t>prediction and preliminary bus allocation</a:t>
            </a: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The application integrates a Flask web interface, </a:t>
            </a:r>
            <a:r>
              <a:rPr lang="en-US" sz="1800" b="1" dirty="0">
                <a:solidFill>
                  <a:srgbClr val="0C3A72"/>
                </a:solidFill>
                <a:latin typeface="Franklin Gothic Book"/>
              </a:rPr>
              <a:t>a</a:t>
            </a: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 </a:t>
            </a:r>
            <a:r>
              <a:rPr lang="en-US" sz="1800" b="1" dirty="0">
                <a:solidFill>
                  <a:srgbClr val="0C3A72"/>
                </a:solidFill>
                <a:latin typeface="Franklin Gothic Book"/>
              </a:rPr>
              <a:t>trained prediction model, a dashboard, forecasting functionality, CSV export, and an interactive Delhi bus map</a:t>
            </a: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The project provides a foundation for data-driven public transportation planning while highlighting the need for </a:t>
            </a:r>
            <a:r>
              <a:rPr lang="en-US" sz="1800" b="1" dirty="0">
                <a:solidFill>
                  <a:srgbClr val="0C3A72"/>
                </a:solidFill>
                <a:latin typeface="Franklin Gothic Book"/>
              </a:rPr>
              <a:t>real passenger ridership </a:t>
            </a: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data for practical deployment.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800" dirty="0">
              <a:solidFill>
                <a:srgbClr val="0C3A72"/>
              </a:solidFill>
              <a:latin typeface="Franklin Gothic Book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C3A72"/>
                </a:solidFill>
                <a:latin typeface="Franklin Gothic Book"/>
              </a:rPr>
              <a:t>Key Achievements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Developed a working demand-prediction web application.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Implemented model evaluation and demand forecasting.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Generated bus allocation recommendations from predicted demand.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Integrated GTFS-based stop and route visualization.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0C3A72"/>
                </a:solidFill>
                <a:latin typeface="Franklin Gothic Book"/>
              </a:rPr>
              <a:t>Enabled structured forecast data export.</a:t>
            </a:r>
          </a:p>
        </p:txBody>
      </p:sp>
    </p:spTree>
    <p:extLst>
      <p:ext uri="{BB962C8B-B14F-4D97-AF65-F5344CB8AC3E}">
        <p14:creationId xmlns:p14="http://schemas.microsoft.com/office/powerpoint/2010/main" val="322078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6B1902-4AAB-5F9C-C53B-2B6D6ED7261D}"/>
              </a:ext>
            </a:extLst>
          </p:cNvPr>
          <p:cNvSpPr txBox="1">
            <a:spLocks/>
          </p:cNvSpPr>
          <p:nvPr/>
        </p:nvSpPr>
        <p:spPr>
          <a:xfrm>
            <a:off x="290511" y="640238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rgbClr val="263570"/>
                </a:solidFill>
                <a:latin typeface="Arial"/>
                <a:cs typeface="Arial"/>
              </a:rPr>
              <a:t>Future Scope</a:t>
            </a:r>
            <a:endParaRPr lang="en-US" sz="3200" dirty="0">
              <a:solidFill>
                <a:srgbClr val="26357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5A19E4-3B83-AB3C-F44D-D86481A2B14B}"/>
              </a:ext>
            </a:extLst>
          </p:cNvPr>
          <p:cNvSpPr txBox="1">
            <a:spLocks/>
          </p:cNvSpPr>
          <p:nvPr/>
        </p:nvSpPr>
        <p:spPr>
          <a:xfrm>
            <a:off x="392111" y="1226018"/>
            <a:ext cx="10597622" cy="5473165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C3A72"/>
                </a:solidFill>
                <a:latin typeface="Franklin Gothic Book" panose="020B0503020102020204" pitchFamily="34" charset="0"/>
              </a:rPr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Integrate real passenger ridership and ticketing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Connect GTFS route identifiers with demand-prediction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Incorporate traffic conditions, weather, events, and holidays.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Use official route geometry for road-accurate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Optimize bus allocation using route-specific capacity and scheduling constraints.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Add live GPS tracking and passenger occupancy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Deploy the application on a cloud server for wider accessibility.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C3A72"/>
                </a:solidFill>
                <a:latin typeface="Franklin Gothic Book" panose="020B0503020102020204" pitchFamily="34" charset="0"/>
              </a:rPr>
              <a:t>Retrain and validate the model using real-world observations.</a:t>
            </a:r>
          </a:p>
        </p:txBody>
      </p:sp>
    </p:spTree>
    <p:extLst>
      <p:ext uri="{BB962C8B-B14F-4D97-AF65-F5344CB8AC3E}">
        <p14:creationId xmlns:p14="http://schemas.microsoft.com/office/powerpoint/2010/main" val="2161045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9A3196-BD09-F7CD-8389-FEA44AE4DC83}"/>
              </a:ext>
            </a:extLst>
          </p:cNvPr>
          <p:cNvSpPr/>
          <p:nvPr/>
        </p:nvSpPr>
        <p:spPr>
          <a:xfrm>
            <a:off x="0" y="6699183"/>
            <a:ext cx="12192000" cy="158817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7EEF8-4D74-3226-CB9D-A950B12C616C}"/>
              </a:ext>
            </a:extLst>
          </p:cNvPr>
          <p:cNvSpPr/>
          <p:nvPr/>
        </p:nvSpPr>
        <p:spPr>
          <a:xfrm>
            <a:off x="0" y="0"/>
            <a:ext cx="10510787" cy="519764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6B1902-4AAB-5F9C-C53B-2B6D6ED7261D}"/>
              </a:ext>
            </a:extLst>
          </p:cNvPr>
          <p:cNvSpPr txBox="1">
            <a:spLocks/>
          </p:cNvSpPr>
          <p:nvPr/>
        </p:nvSpPr>
        <p:spPr>
          <a:xfrm>
            <a:off x="1129564" y="3045551"/>
            <a:ext cx="10515600" cy="1325563"/>
          </a:xfr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cap="all" dirty="0">
                <a:solidFill>
                  <a:srgbClr val="263570"/>
                </a:solidFill>
                <a:latin typeface="Arial"/>
                <a:cs typeface="Arial"/>
              </a:rPr>
              <a:t>Thank You</a:t>
            </a:r>
            <a:endParaRPr lang="en-US" sz="3200" dirty="0">
              <a:solidFill>
                <a:srgbClr val="26357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21603-19DF-A744-999C-2F70B449ABB8}"/>
              </a:ext>
            </a:extLst>
          </p:cNvPr>
          <p:cNvSpPr txBox="1"/>
          <p:nvPr/>
        </p:nvSpPr>
        <p:spPr>
          <a:xfrm>
            <a:off x="5220904" y="5773674"/>
            <a:ext cx="6971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>
                <a:latin typeface="Franklin Gothic Book"/>
              </a:rPr>
              <a:t>GitHub Link:</a:t>
            </a:r>
            <a:r>
              <a:rPr lang="en-IN" sz="18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1800" dirty="0">
                <a:solidFill>
                  <a:srgbClr val="0070C0"/>
                </a:solidFill>
                <a:latin typeface="Franklin Gothic Book"/>
                <a:hlinkClick r:id="rId2"/>
              </a:rPr>
              <a:t>https://github.com/ItsDeveloperChirag/</a:t>
            </a:r>
            <a:r>
              <a:rPr lang="en-US" dirty="0" err="1">
                <a:solidFill>
                  <a:srgbClr val="0070C0"/>
                </a:solidFill>
                <a:latin typeface="Franklin Gothic Book"/>
                <a:hlinkClick r:id="rId2"/>
              </a:rPr>
              <a:t>TransitAI</a:t>
            </a:r>
            <a:endParaRPr lang="en-IN" dirty="0">
              <a:solidFill>
                <a:srgbClr val="0070C0"/>
              </a:solidFill>
              <a:latin typeface="Franklin Gothic Book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6FE295-1F5F-236C-40F0-1A427839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570" y="714994"/>
            <a:ext cx="4562217" cy="48511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210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640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10</cp:revision>
  <dcterms:created xsi:type="dcterms:W3CDTF">2026-07-19T16:29:25Z</dcterms:created>
  <dcterms:modified xsi:type="dcterms:W3CDTF">2026-10-11T12:42:06Z</dcterms:modified>
</cp:coreProperties>
</file>